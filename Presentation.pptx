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40525" cx="118792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49300" y="1143000"/>
            <a:ext cx="535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7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749300" y="1143000"/>
            <a:ext cx="535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749300" y="1143000"/>
            <a:ext cx="535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749300" y="1143000"/>
            <a:ext cx="535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749300" y="1143000"/>
            <a:ext cx="535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749300" y="1143000"/>
            <a:ext cx="535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fee8eac0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1fee8eac07_0_9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fee8eac0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1fee8eac07_0_25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749300" y="1143000"/>
            <a:ext cx="535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1fee8eac07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1fee8eac07_0_37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749300" y="1143000"/>
            <a:ext cx="5359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fee8eac07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1fee8eac07_0_50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fee8eac07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1fee8eac07_0_60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fee8eac07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1fee8eac07_0_71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fee8eac07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1fee8eac07_0_86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1fee8eac07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1fee8eac07_0_111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fee8eac07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1fee8eac07_0_100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fee8eac07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1fee8eac07_0_122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fee8eac07_0_1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1fee8eac07_0_136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1fee8eac07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1fee8eac07_0_146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fee8eac07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1fee8eac07_0_162:notes"/>
          <p:cNvSpPr/>
          <p:nvPr>
            <p:ph idx="2" type="sldImg"/>
          </p:nvPr>
        </p:nvSpPr>
        <p:spPr>
          <a:xfrm>
            <a:off x="749300" y="1143000"/>
            <a:ext cx="5359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743201" y="4267200"/>
            <a:ext cx="7528560" cy="7578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750821" y="5110480"/>
            <a:ext cx="6957487" cy="6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None/>
              <a:defRPr sz="1949"/>
            </a:lvl2pPr>
            <a:lvl3pPr lvl="2" algn="ctr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None/>
              <a:defRPr sz="1754"/>
            </a:lvl3pPr>
            <a:lvl4pPr lvl="3" algn="ctr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4pPr>
            <a:lvl5pPr lvl="4" algn="ctr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5pPr>
            <a:lvl6pPr lvl="5" algn="ctr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6pPr>
            <a:lvl7pPr lvl="6" algn="ctr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7pPr>
            <a:lvl8pPr lvl="7" algn="ctr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8pPr>
            <a:lvl9pPr lvl="8" algn="ctr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993404" y="6476343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1400" u="none" cap="none" strike="noStrike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810512" y="1705385"/>
            <a:ext cx="10245864" cy="28454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46"/>
              <a:buFont typeface="Arial"/>
              <a:buNone/>
              <a:defRPr sz="584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810512" y="4577778"/>
            <a:ext cx="10245864" cy="14963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338"/>
              <a:buNone/>
              <a:defRPr sz="2338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None/>
              <a:defRPr sz="1949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None/>
              <a:defRPr sz="1754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816699" y="1820976"/>
            <a:ext cx="5048687" cy="4340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013877" y="1820976"/>
            <a:ext cx="5048687" cy="4340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18247" y="364196"/>
            <a:ext cx="10245864" cy="132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18247" y="1676882"/>
            <a:ext cx="5025485" cy="8218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338"/>
              <a:buNone/>
              <a:defRPr b="1" sz="2338"/>
            </a:lvl1pPr>
            <a:lvl2pPr indent="-2286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None/>
              <a:defRPr b="1" sz="1949"/>
            </a:lvl2pPr>
            <a:lvl3pPr indent="-2286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None/>
              <a:defRPr b="1" sz="1754"/>
            </a:lvl3pPr>
            <a:lvl4pPr indent="-2286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4pPr>
            <a:lvl5pPr indent="-2286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5pPr>
            <a:lvl6pPr indent="-2286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6pPr>
            <a:lvl7pPr indent="-2286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7pPr>
            <a:lvl8pPr indent="-2286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8pPr>
            <a:lvl9pPr indent="-2286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18247" y="2498697"/>
            <a:ext cx="5025485" cy="3675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013877" y="1676882"/>
            <a:ext cx="5050234" cy="8218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338"/>
              <a:buNone/>
              <a:defRPr b="1" sz="2338"/>
            </a:lvl1pPr>
            <a:lvl2pPr indent="-2286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None/>
              <a:defRPr b="1" sz="1949"/>
            </a:lvl2pPr>
            <a:lvl3pPr indent="-2286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None/>
              <a:defRPr b="1" sz="1754"/>
            </a:lvl3pPr>
            <a:lvl4pPr indent="-2286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4pPr>
            <a:lvl5pPr indent="-2286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5pPr>
            <a:lvl6pPr indent="-2286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6pPr>
            <a:lvl7pPr indent="-2286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7pPr>
            <a:lvl8pPr indent="-2286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8pPr>
            <a:lvl9pPr indent="-2286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b="1" sz="1559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6013877" y="2498697"/>
            <a:ext cx="5050234" cy="3675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18247" y="456036"/>
            <a:ext cx="3831371" cy="1596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5050234" y="984911"/>
            <a:ext cx="6013877" cy="486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6593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3118"/>
              <a:buChar char="•"/>
              <a:defRPr sz="3118"/>
            </a:lvl1pPr>
            <a:lvl2pPr indent="-401828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728"/>
              <a:buChar char="•"/>
              <a:defRPr sz="2728"/>
            </a:lvl2pPr>
            <a:lvl3pPr indent="-377063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338"/>
              <a:buChar char="•"/>
              <a:defRPr sz="2338"/>
            </a:lvl3pPr>
            <a:lvl4pPr indent="-352361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Char char="•"/>
              <a:defRPr sz="1949"/>
            </a:lvl4pPr>
            <a:lvl5pPr indent="-352361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Char char="•"/>
              <a:defRPr sz="1949"/>
            </a:lvl5pPr>
            <a:lvl6pPr indent="-352361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Char char="•"/>
              <a:defRPr sz="1949"/>
            </a:lvl6pPr>
            <a:lvl7pPr indent="-352361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Char char="•"/>
              <a:defRPr sz="1949"/>
            </a:lvl7pPr>
            <a:lvl8pPr indent="-352361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Char char="•"/>
              <a:defRPr sz="1949"/>
            </a:lvl8pPr>
            <a:lvl9pPr indent="-352361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Char char="•"/>
              <a:defRPr sz="1949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818247" y="2052161"/>
            <a:ext cx="3831371" cy="3801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1pPr>
            <a:lvl2pPr indent="-2286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364"/>
              <a:buNone/>
              <a:defRPr sz="1364"/>
            </a:lvl2pPr>
            <a:lvl3pPr indent="-2286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169"/>
              <a:buNone/>
              <a:defRPr sz="1169"/>
            </a:lvl3pPr>
            <a:lvl4pPr indent="-2286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4pPr>
            <a:lvl5pPr indent="-2286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5pPr>
            <a:lvl6pPr indent="-2286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6pPr>
            <a:lvl7pPr indent="-2286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7pPr>
            <a:lvl8pPr indent="-2286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8pPr>
            <a:lvl9pPr indent="-2286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18247" y="456036"/>
            <a:ext cx="3831371" cy="15961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8"/>
              <a:buFont typeface="Arial"/>
              <a:buNone/>
              <a:defRPr sz="311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5050234" y="984911"/>
            <a:ext cx="6013877" cy="4861216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818247" y="2052161"/>
            <a:ext cx="3831371" cy="3801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559"/>
              <a:buNone/>
              <a:defRPr sz="1559"/>
            </a:lvl1pPr>
            <a:lvl2pPr indent="-2286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364"/>
              <a:buNone/>
              <a:defRPr sz="1364"/>
            </a:lvl2pPr>
            <a:lvl3pPr indent="-2286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169"/>
              <a:buNone/>
              <a:defRPr sz="1169"/>
            </a:lvl3pPr>
            <a:lvl4pPr indent="-2286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4pPr>
            <a:lvl5pPr indent="-2286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5pPr>
            <a:lvl6pPr indent="-2286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6pPr>
            <a:lvl7pPr indent="-2286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7pPr>
            <a:lvl8pPr indent="-2286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8pPr>
            <a:lvl9pPr indent="-2286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974"/>
              <a:buNone/>
              <a:defRPr sz="974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3769503" y="-1131827"/>
            <a:ext cx="4340259" cy="10245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6883311" y="1981982"/>
            <a:ext cx="5797040" cy="2561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686134" y="-505239"/>
            <a:ext cx="5797040" cy="7535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7"/>
              <a:buFont typeface="Arial"/>
              <a:buNone/>
              <a:defRPr b="0" i="0" sz="428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1828" lvl="0" marL="457200" marR="0" rtl="0" algn="l">
              <a:lnSpc>
                <a:spcPct val="90000"/>
              </a:lnSpc>
              <a:spcBef>
                <a:spcPts val="974"/>
              </a:spcBef>
              <a:spcAft>
                <a:spcPts val="0"/>
              </a:spcAft>
              <a:buClr>
                <a:schemeClr val="dk1"/>
              </a:buClr>
              <a:buSzPts val="2728"/>
              <a:buFont typeface="Arial"/>
              <a:buChar char="•"/>
              <a:defRPr b="0" i="0" sz="272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7062" lvl="1" marL="914400" marR="0" rtl="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2338"/>
              <a:buFont typeface="Arial"/>
              <a:buChar char="•"/>
              <a:defRPr b="0" i="0" sz="23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2361" lvl="2" marL="1371600" marR="0" rtl="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949"/>
              <a:buFont typeface="Arial"/>
              <a:buChar char="•"/>
              <a:defRPr b="0" i="0" sz="194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9979" lvl="3" marL="1828800" marR="0" rtl="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Char char="•"/>
              <a:defRPr b="0" i="0" sz="175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9979" lvl="4" marL="2286000" marR="0" rtl="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Char char="•"/>
              <a:defRPr b="0" i="0" sz="175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9979" lvl="5" marL="2743200" marR="0" rtl="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Char char="•"/>
              <a:defRPr b="0" i="0" sz="175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9979" lvl="6" marL="3200400" marR="0" rtl="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Char char="•"/>
              <a:defRPr b="0" i="0" sz="175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9978" lvl="7" marL="3657600" marR="0" rtl="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Char char="•"/>
              <a:defRPr b="0" i="0" sz="175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9978" lvl="8" marL="4114800" marR="0" rtl="0" algn="l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>
                <a:schemeClr val="dk1"/>
              </a:buClr>
              <a:buSzPts val="1754"/>
              <a:buFont typeface="Arial"/>
              <a:buChar char="•"/>
              <a:defRPr b="0" i="0" sz="175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0" y="0"/>
            <a:ext cx="12181717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90204" y="5261956"/>
            <a:ext cx="11080865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6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36727" y="5449386"/>
            <a:ext cx="1989945" cy="88867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type="ctrTitle"/>
          </p:nvPr>
        </p:nvSpPr>
        <p:spPr>
          <a:xfrm>
            <a:off x="603750" y="3036113"/>
            <a:ext cx="109845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5200"/>
              <a:t>THE DATABASE OF </a:t>
            </a:r>
            <a:endParaRPr b="1" sz="5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5200"/>
              <a:t>THE HOTEL BOOKING SYSTEM</a:t>
            </a:r>
            <a:endParaRPr b="1" sz="5200"/>
          </a:p>
        </p:txBody>
      </p:sp>
      <p:sp>
        <p:nvSpPr>
          <p:cNvPr id="89" name="Google Shape;89;p13"/>
          <p:cNvSpPr txBox="1"/>
          <p:nvPr>
            <p:ph type="ctrTitle"/>
          </p:nvPr>
        </p:nvSpPr>
        <p:spPr>
          <a:xfrm>
            <a:off x="518150" y="5509559"/>
            <a:ext cx="96234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Presentation by Shamil Shaimuratov and Yestleu Ismailkhan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Group SUBD 2216-13–Ch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993404" y="6476343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68866" y="907003"/>
            <a:ext cx="10735733" cy="45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6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464394" y="2318376"/>
            <a:ext cx="223892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2232489" y="2757050"/>
            <a:ext cx="316771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Database modeling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624513" y="2318375"/>
            <a:ext cx="78503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541257" y="2756309"/>
            <a:ext cx="330925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SQL Implementation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624513" y="4365275"/>
            <a:ext cx="78503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D4003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7541257" y="4796160"/>
            <a:ext cx="31677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Functionality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464394" y="4365276"/>
            <a:ext cx="223892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2232489" y="4796161"/>
            <a:ext cx="316771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Interface Design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8993404" y="6476343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DATABASE MODELING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68866" y="1015023"/>
            <a:ext cx="99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Entity-Relationship diagram (ERD)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8550" y="1538225"/>
            <a:ext cx="7203924" cy="52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993404" y="6476343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668866" y="253999"/>
            <a:ext cx="9462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DATABASE MODELING \ </a:t>
            </a:r>
            <a:r>
              <a:rPr lang="en-US" sz="2400">
                <a:solidFill>
                  <a:schemeClr val="lt1"/>
                </a:solidFill>
              </a:rPr>
              <a:t>SQL IMPLEMENTATION</a:t>
            </a:r>
            <a:endParaRPr sz="2400">
              <a:solidFill>
                <a:srgbClr val="151515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31228" y="1418368"/>
            <a:ext cx="9957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Development of an ERD-based database model in PostgreSQL that includes customers, employees, hotel rooms, reservations and payments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903" y="3228727"/>
            <a:ext cx="3038899" cy="2133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1163" y="3137129"/>
            <a:ext cx="3436936" cy="2317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58099" y="3329649"/>
            <a:ext cx="3374106" cy="1920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8993404" y="6476343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SQL IMPLEMENTATION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1107900" y="1351450"/>
            <a:ext cx="10451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Implementation of Constraints using SQL queries that ensure data integrity and error protection</a:t>
            </a:r>
            <a:endParaRPr sz="2800">
              <a:solidFill>
                <a:srgbClr val="C0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C00000"/>
              </a:solidFill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925" y="2442074"/>
            <a:ext cx="5789600" cy="178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6507"/>
          <a:stretch/>
        </p:blipFill>
        <p:spPr>
          <a:xfrm>
            <a:off x="2762925" y="4072773"/>
            <a:ext cx="5789599" cy="276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SQL IMPLEMENTATION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1107900" y="1351450"/>
            <a:ext cx="10451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Filling each table with 20 rows using SQL </a:t>
            </a:r>
            <a:r>
              <a:rPr lang="en-US" sz="2800">
                <a:solidFill>
                  <a:srgbClr val="C00000"/>
                </a:solidFill>
              </a:rPr>
              <a:t>queries</a:t>
            </a:r>
            <a:r>
              <a:rPr lang="en-US" sz="2800">
                <a:solidFill>
                  <a:srgbClr val="C00000"/>
                </a:solidFill>
              </a:rPr>
              <a:t>. Example of the clients table</a:t>
            </a:r>
            <a:endParaRPr sz="2800">
              <a:solidFill>
                <a:srgbClr val="C00000"/>
              </a:solidFill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8452" y="2349498"/>
            <a:ext cx="6250601" cy="40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SQL IMPLEMENTATION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1107900" y="1351450"/>
            <a:ext cx="10451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Using the setvar function to synchronize the auto-increment sequence with the maximum ID value in the table, preventing conflicts when adding data</a:t>
            </a:r>
            <a:endParaRPr sz="2800">
              <a:solidFill>
                <a:srgbClr val="C00000"/>
              </a:solidFill>
            </a:endParaRPr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587" y="3255299"/>
            <a:ext cx="10866324" cy="16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8993404" y="6476343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INTERFACE DESIGN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960678" y="1106468"/>
            <a:ext cx="9957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Creating an intuitive and user-friendly interface </a:t>
            </a:r>
            <a:r>
              <a:rPr lang="en-US" sz="2800">
                <a:solidFill>
                  <a:srgbClr val="C00000"/>
                </a:solidFill>
              </a:rPr>
              <a:t>for the</a:t>
            </a:r>
            <a:r>
              <a:rPr lang="en-US" sz="2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database management using HTML, Bootstrap, PHP, and JavaScript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763" y="2409456"/>
            <a:ext cx="8647954" cy="3990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INTERFACE DESIGN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960678" y="1106469"/>
            <a:ext cx="995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The php-pgsql driver(PHP Data Object module) was used to connect the database to the GUI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250" y="2451543"/>
            <a:ext cx="852487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8993404" y="6476343"/>
            <a:ext cx="2672834" cy="364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668867" y="787399"/>
            <a:ext cx="10735733" cy="4571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668866" y="253999"/>
            <a:ext cx="94626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DISPLAY DATA)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960678" y="1455156"/>
            <a:ext cx="995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The first function that awaits us is the display of data from the selected table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18026"/>
          <a:stretch/>
        </p:blipFill>
        <p:spPr>
          <a:xfrm>
            <a:off x="1973050" y="2736650"/>
            <a:ext cx="7933152" cy="365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3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SEARCH</a:t>
            </a:r>
            <a:r>
              <a:rPr lang="en-US" sz="2400">
                <a:solidFill>
                  <a:schemeClr val="accent1"/>
                </a:solidFill>
              </a:rPr>
              <a:t>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960678" y="1304481"/>
            <a:ext cx="995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The following function allows us to find data in the table by any of the values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475" y="2412656"/>
            <a:ext cx="8688605" cy="4190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4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FIX ID</a:t>
            </a:r>
            <a:r>
              <a:rPr lang="en-US" sz="2400">
                <a:solidFill>
                  <a:schemeClr val="accent1"/>
                </a:solidFill>
              </a:rPr>
              <a:t>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960678" y="1304481"/>
            <a:ext cx="995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This function restores the order for the ID using SQL </a:t>
            </a:r>
            <a:r>
              <a:rPr lang="en-US" sz="2800">
                <a:solidFill>
                  <a:srgbClr val="C00000"/>
                </a:solidFill>
              </a:rPr>
              <a:t>queries</a:t>
            </a:r>
            <a:r>
              <a:rPr lang="en-US" sz="2800">
                <a:solidFill>
                  <a:srgbClr val="C00000"/>
                </a:solidFill>
              </a:rPr>
              <a:t> with </a:t>
            </a:r>
            <a:r>
              <a:rPr lang="en-US" sz="2800">
                <a:solidFill>
                  <a:srgbClr val="C00000"/>
                </a:solidFill>
              </a:rPr>
              <a:t>setvar function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075" y="2361725"/>
            <a:ext cx="7490099" cy="358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ADD</a:t>
            </a:r>
            <a:r>
              <a:rPr lang="en-US" sz="2400">
                <a:solidFill>
                  <a:schemeClr val="accent1"/>
                </a:solidFill>
              </a:rPr>
              <a:t>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960678" y="1304481"/>
            <a:ext cx="99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The function of adding a new record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600" y="1917138"/>
            <a:ext cx="4518400" cy="195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175" y="1922438"/>
            <a:ext cx="4518400" cy="194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7575" y="3999213"/>
            <a:ext cx="4518401" cy="199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564" y="6112150"/>
            <a:ext cx="11054121" cy="36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26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DELETE</a:t>
            </a:r>
            <a:r>
              <a:rPr lang="en-US" sz="2400">
                <a:solidFill>
                  <a:schemeClr val="accent1"/>
                </a:solidFill>
              </a:rPr>
              <a:t>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960678" y="1304481"/>
            <a:ext cx="99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Function for deleting a row by ID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7700" y="2900718"/>
            <a:ext cx="5229225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675" y="2646826"/>
            <a:ext cx="4609825" cy="20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27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TOTAL</a:t>
            </a:r>
            <a:r>
              <a:rPr lang="en-US" sz="2400">
                <a:solidFill>
                  <a:schemeClr val="accent1"/>
                </a:solidFill>
              </a:rPr>
              <a:t>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960678" y="1304481"/>
            <a:ext cx="99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A function for quickly counting the number of rows in a table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650" y="2299156"/>
            <a:ext cx="10010775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28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SORT</a:t>
            </a:r>
            <a:r>
              <a:rPr lang="en-US" sz="2400">
                <a:solidFill>
                  <a:schemeClr val="accent1"/>
                </a:solidFill>
              </a:rPr>
              <a:t>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960678" y="1304481"/>
            <a:ext cx="99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Function for sorting by ID (ASC / DESC)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788" y="2132481"/>
            <a:ext cx="8967974" cy="434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29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9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CALCULATE</a:t>
            </a:r>
            <a:r>
              <a:rPr lang="en-US" sz="2400">
                <a:solidFill>
                  <a:schemeClr val="accent1"/>
                </a:solidFill>
              </a:rPr>
              <a:t>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960678" y="1304481"/>
            <a:ext cx="99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Function for calculations(AVG, SUM, COUNT)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847" y="2111875"/>
            <a:ext cx="4563728" cy="20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175" y="2111881"/>
            <a:ext cx="4240100" cy="211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3375" y="3546048"/>
            <a:ext cx="9306808" cy="3168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30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CALCULATE)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960678" y="1304481"/>
            <a:ext cx="99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Function for calculations(AVG, SUM, COUNT)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847" y="2111875"/>
            <a:ext cx="4563728" cy="20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175" y="2111881"/>
            <a:ext cx="4240100" cy="2112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3375" y="3546048"/>
            <a:ext cx="9306808" cy="3168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31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CROSS JOIN</a:t>
            </a:r>
            <a:r>
              <a:rPr lang="en-US" sz="2400">
                <a:solidFill>
                  <a:schemeClr val="accent1"/>
                </a:solidFill>
              </a:rPr>
              <a:t>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960678" y="1304481"/>
            <a:ext cx="9957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The function for is a combination of data from several tables without an explicit connection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8188" y="4655726"/>
            <a:ext cx="4430732" cy="19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4375" y="4674251"/>
            <a:ext cx="4355900" cy="1913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5600" y="2489263"/>
            <a:ext cx="4355901" cy="1935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4375" y="2445175"/>
            <a:ext cx="4355900" cy="19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idx="12" type="sldNum"/>
          </p:nvPr>
        </p:nvSpPr>
        <p:spPr>
          <a:xfrm>
            <a:off x="8993404" y="6476343"/>
            <a:ext cx="2672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668867" y="787399"/>
            <a:ext cx="10735800" cy="45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 txBox="1"/>
          <p:nvPr/>
        </p:nvSpPr>
        <p:spPr>
          <a:xfrm>
            <a:off x="668866" y="253999"/>
            <a:ext cx="946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FUNCTIONALITY (</a:t>
            </a:r>
            <a:r>
              <a:rPr lang="en-US" sz="2400">
                <a:solidFill>
                  <a:schemeClr val="accent1"/>
                </a:solidFill>
              </a:rPr>
              <a:t>CROSS JOIN)</a:t>
            </a:r>
            <a:endParaRPr sz="2400">
              <a:solidFill>
                <a:srgbClr val="15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 txBox="1"/>
          <p:nvPr/>
        </p:nvSpPr>
        <p:spPr>
          <a:xfrm>
            <a:off x="960678" y="1304481"/>
            <a:ext cx="99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</a:rPr>
              <a:t>Result of Cross Join</a:t>
            </a:r>
            <a:endParaRPr sz="2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475" y="2091981"/>
            <a:ext cx="8688606" cy="4663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Другая 2">
      <a:dk1>
        <a:srgbClr val="FFFFFF"/>
      </a:dk1>
      <a:lt1>
        <a:srgbClr val="D50032"/>
      </a:lt1>
      <a:dk2>
        <a:srgbClr val="FFFFFF"/>
      </a:dk2>
      <a:lt2>
        <a:srgbClr val="D50032"/>
      </a:lt2>
      <a:accent1>
        <a:srgbClr val="D50032"/>
      </a:accent1>
      <a:accent2>
        <a:srgbClr val="F2F2F2"/>
      </a:accent2>
      <a:accent3>
        <a:srgbClr val="D8D8D8"/>
      </a:accent3>
      <a:accent4>
        <a:srgbClr val="BFBFBF"/>
      </a:accent4>
      <a:accent5>
        <a:srgbClr val="A5A5A5"/>
      </a:accent5>
      <a:accent6>
        <a:srgbClr val="7F7F7F"/>
      </a:accent6>
      <a:hlink>
        <a:srgbClr val="FFD965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